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17367fc4bc4fcc" /><Relationship Type="http://schemas.openxmlformats.org/officeDocument/2006/relationships/extended-properties" Target="/docProps/app.xml" Id="Rd10f65d8d7824bcf" /><Relationship Type="http://schemas.openxmlformats.org/officeDocument/2006/relationships/officeDocument" Target="/ppt/presentation.xml" Id="R9419c0a98f5743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7d593e423640c8"/>
  </p:sldMasterIdLst>
  <p:notesMasterIdLst>
    <p:notesMasterId xmlns:r="http://schemas.openxmlformats.org/officeDocument/2006/relationships" r:id="Re8543abfbdbf49ec"/>
  </p:notesMasterIdLst>
  <p:sldIdLst>
    <p:sldId xmlns:r="http://schemas.openxmlformats.org/officeDocument/2006/relationships" id="256" r:id="R4c60cf09eabb48ff"/>
    <p:sldId xmlns:r="http://schemas.openxmlformats.org/officeDocument/2006/relationships" id="257" r:id="Re9dfc53401764046"/>
    <p:sldId xmlns:r="http://schemas.openxmlformats.org/officeDocument/2006/relationships" id="258" r:id="Rf1b00a1eb12c469a"/>
    <p:sldId xmlns:r="http://schemas.openxmlformats.org/officeDocument/2006/relationships" id="259" r:id="Re5a96d0e2ced4d1c"/>
    <p:sldId xmlns:r="http://schemas.openxmlformats.org/officeDocument/2006/relationships" id="260" r:id="Re3d516b4cae84e39"/>
    <p:sldId xmlns:r="http://schemas.openxmlformats.org/officeDocument/2006/relationships" id="261" r:id="R62c6eaee00924f64"/>
    <p:sldId xmlns:r="http://schemas.openxmlformats.org/officeDocument/2006/relationships" id="262" r:id="Rad9364dac5bf46f1"/>
    <p:sldId xmlns:r="http://schemas.openxmlformats.org/officeDocument/2006/relationships" id="263" r:id="R19f324dd3ee24095"/>
    <p:sldId xmlns:r="http://schemas.openxmlformats.org/officeDocument/2006/relationships" id="264" r:id="R649510751feb44c7"/>
    <p:sldId xmlns:r="http://schemas.openxmlformats.org/officeDocument/2006/relationships" id="265" r:id="Rd3b5575ec14247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b4ed6c3cec443e" /><Relationship Type="http://schemas.openxmlformats.org/officeDocument/2006/relationships/slideMaster" Target="/ppt/slideMasters/slideMaster1.xml" Id="Rfe7d593e423640c8" /><Relationship Type="http://schemas.openxmlformats.org/officeDocument/2006/relationships/notesMaster" Target="/ppt/notesMasters/notesMaster1.xml" Id="Re8543abfbdbf49ec" /><Relationship Type="http://schemas.openxmlformats.org/officeDocument/2006/relationships/presProps" Target="/ppt/presProps.xml" Id="R63f68db89b624f28" /><Relationship Type="http://schemas.openxmlformats.org/officeDocument/2006/relationships/tableStyles" Target="/ppt/tableStyles.xml" Id="Ra2b44aef73044bc5" /><Relationship Type="http://schemas.openxmlformats.org/officeDocument/2006/relationships/slide" Target="/ppt/slides/slide1.xml" Id="R4c60cf09eabb48ff" /><Relationship Type="http://schemas.openxmlformats.org/officeDocument/2006/relationships/slide" Target="/ppt/slides/slide2.xml" Id="Re9dfc53401764046" /><Relationship Type="http://schemas.openxmlformats.org/officeDocument/2006/relationships/slide" Target="/ppt/slides/slide3.xml" Id="Rf1b00a1eb12c469a" /><Relationship Type="http://schemas.openxmlformats.org/officeDocument/2006/relationships/slide" Target="/ppt/slides/slide4.xml" Id="Re5a96d0e2ced4d1c" /><Relationship Type="http://schemas.openxmlformats.org/officeDocument/2006/relationships/slide" Target="/ppt/slides/slide5.xml" Id="Re3d516b4cae84e39" /><Relationship Type="http://schemas.openxmlformats.org/officeDocument/2006/relationships/slide" Target="/ppt/slides/slide6.xml" Id="R62c6eaee00924f64" /><Relationship Type="http://schemas.openxmlformats.org/officeDocument/2006/relationships/slide" Target="/ppt/slides/slide7.xml" Id="Rad9364dac5bf46f1" /><Relationship Type="http://schemas.openxmlformats.org/officeDocument/2006/relationships/slide" Target="/ppt/slides/slide8.xml" Id="R19f324dd3ee24095" /><Relationship Type="http://schemas.openxmlformats.org/officeDocument/2006/relationships/slide" Target="/ppt/slides/slide9.xml" Id="R649510751feb44c7" /><Relationship Type="http://schemas.openxmlformats.org/officeDocument/2006/relationships/slide" Target="/ppt/slides/slide10.xml" Id="Rd3b5575ec14247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5ce5fab8d143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c7c2e179314f4c" /><Relationship Type="http://schemas.openxmlformats.org/officeDocument/2006/relationships/notesMaster" Target="/ppt/notesMasters/notesMaster1.xml" Id="Rfb7b716966db43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e4ded8392f4b99" /><Relationship Type="http://schemas.openxmlformats.org/officeDocument/2006/relationships/notesMaster" Target="/ppt/notesMasters/notesMaster1.xml" Id="R6936324ae28743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74d877d3b64455" /><Relationship Type="http://schemas.openxmlformats.org/officeDocument/2006/relationships/notesMaster" Target="/ppt/notesMasters/notesMaster1.xml" Id="R3ba944bc830f49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38e2c32c5a4e94" /><Relationship Type="http://schemas.openxmlformats.org/officeDocument/2006/relationships/notesMaster" Target="/ppt/notesMasters/notesMaster1.xml" Id="R7e077ce2bd1b46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e8dc1f03534b95" /><Relationship Type="http://schemas.openxmlformats.org/officeDocument/2006/relationships/notesMaster" Target="/ppt/notesMasters/notesMaster1.xml" Id="R71139090de784f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f8f3e2186547be" /><Relationship Type="http://schemas.openxmlformats.org/officeDocument/2006/relationships/notesMaster" Target="/ppt/notesMasters/notesMaster1.xml" Id="R4360d1e64e1740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654ffde7f04355" /><Relationship Type="http://schemas.openxmlformats.org/officeDocument/2006/relationships/notesMaster" Target="/ppt/notesMasters/notesMaster1.xml" Id="R620249089f9d4b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56239380d341fb" /><Relationship Type="http://schemas.openxmlformats.org/officeDocument/2006/relationships/notesMaster" Target="/ppt/notesMasters/notesMaster1.xml" Id="Rf09f7bbc581240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feaef667c04e63" /><Relationship Type="http://schemas.openxmlformats.org/officeDocument/2006/relationships/notesMaster" Target="/ppt/notesMasters/notesMaster1.xml" Id="R075c1a6fb47040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2e806717dc4930" /><Relationship Type="http://schemas.openxmlformats.org/officeDocument/2006/relationships/notesMaster" Target="/ppt/notesMasters/notesMaster1.xml" Id="R6fca193cdc7646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claims or assets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Talent Track case brief, accessed 2026-09-03.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Talent Track case brief, scope section, accessed 2026-09-03.</a:t>
            </a:r>
          </a:p>
          <a:p xmlns:a="http://schemas.openxmlformats.org/drawingml/2006/main">
            <a:r>
              <a:t>- https://github.com/ai-talent-hub-avito/homework_examples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https://github.com/ai-talent-hub-avito/homework_examples#текущий-процесс-проверки-домашних-заданий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product hypotheses and success criteria, version 2026-09-03.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target workflow, version 2026-09-03.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https://github.com/ai-talent-hub-avito/homework_examples/tree/main/GO</a:t>
            </a:r>
          </a:p>
          <a:p xmlns:a="http://schemas.openxmlformats.org/drawingml/2006/main">
            <a:r>
              <a:t>- Team review contract and safety design, version 2026-09-03.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architecture proposal, version 2026-09-03.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https://github.com/ai-talent-hub-avito/homework_examples/blob/main/GO/task1.md</a:t>
            </a:r>
          </a:p>
          <a:p xmlns:a="http://schemas.openxmlformats.org/drawingml/2006/main">
            <a:r>
              <a:t>- https://github.com/ai-talent-hub-avito/homework_examples/blob/main/GO/task2.md</a:t>
            </a:r>
          </a:p>
          <a:p xmlns:a="http://schemas.openxmlformats.org/drawingml/2006/main">
            <a:r>
              <a:t>- https://github.com/ai-talent-hub-avito/homework_examples/blob/main/GO/task3.md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delivery plan and role allocation, version 2026-09-03.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4e4f725a484b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19f83749f04885" /><Relationship Type="http://schemas.openxmlformats.org/officeDocument/2006/relationships/slideLayout" Target="/ppt/slideLayouts/slideLayout1.xml" Id="Rc3bb422e9b2349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bb422e9b2349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d8bc990034c39" /><Relationship Type="http://schemas.openxmlformats.org/officeDocument/2006/relationships/notesSlide" Target="/ppt/notesSlides/notesSlide1.xml" Id="R3f63ac7f5fa44e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3bce92f8646d2" /><Relationship Type="http://schemas.openxmlformats.org/officeDocument/2006/relationships/notesSlide" Target="/ppt/notesSlides/notesSlide2.xml" Id="R311491cb37f543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bba7458f74dc6" /><Relationship Type="http://schemas.openxmlformats.org/officeDocument/2006/relationships/notesSlide" Target="/ppt/notesSlides/notesSlide3.xml" Id="R848cccf1dd4747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5d55fd49e41dc" /><Relationship Type="http://schemas.openxmlformats.org/officeDocument/2006/relationships/notesSlide" Target="/ppt/notesSlides/notesSlide4.xml" Id="R215bfb91896244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a04c9f77b4b3e" /><Relationship Type="http://schemas.openxmlformats.org/officeDocument/2006/relationships/notesSlide" Target="/ppt/notesSlides/notesSlide5.xml" Id="R209f3c1897f141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e8f5fa3154424" /><Relationship Type="http://schemas.openxmlformats.org/officeDocument/2006/relationships/notesSlide" Target="/ppt/notesSlides/notesSlide6.xml" Id="Rd9661210990b4c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9f41987f9411b" /><Relationship Type="http://schemas.openxmlformats.org/officeDocument/2006/relationships/notesSlide" Target="/ppt/notesSlides/notesSlide7.xml" Id="Re9dd23fe486949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2222054c348d8" /><Relationship Type="http://schemas.openxmlformats.org/officeDocument/2006/relationships/notesSlide" Target="/ppt/notesSlides/notesSlide8.xml" Id="R1ce25870e32546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71b2851824003" /><Relationship Type="http://schemas.openxmlformats.org/officeDocument/2006/relationships/notesSlide" Target="/ppt/notesSlides/notesSlide9.xml" Id="R89801c7463654c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6bfbe56894b18" /><Relationship Type="http://schemas.openxmlformats.org/officeDocument/2006/relationships/notesSlide" Target="/ppt/notesSlides/notesSlide10.xml" Id="R03bed5f4b20b47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3062943-1142-4296-AFDB-0898E13E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7E82B5B-D098-4750-82F8-1373A2D4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TALENT TRACK · AVITO EDUCATION · КОМАНДА 12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E9BFADD-C656-455A-8AA0-EB6C60E4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88582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 Reviewer</a:t>
            </a:r>
          </a:p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для Go-домашек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556A3EE-0E28-4947-B466-BB29B521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Предварительное ревью с доказательствами, уверенностью и обязательным решением человека</a:t>
            </a:r>
          </a:p>
        </p:txBody>
      </p:sp>
      <p:sp>
        <p:nvSpPr>
          <p:cNvPr id="5" name="cover-team">
            <a:extLst xmlns:a="http://schemas.openxmlformats.org/drawingml/2006/main">
              <a:ext uri="{FF2B5EF4-FFF2-40B4-BE49-F238E27FC236}">
                <a16:creationId xmlns:a16="http://schemas.microsoft.com/office/drawing/2014/main" id="{7D71FB72-079C-47C8-B263-0B839E13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721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Андрей Яковлев · Денис Ткачев</a:t>
            </a:r>
          </a:p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Промежуточная версия · 3 сентября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339108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2">
            <a:extLst xmlns:a="http://schemas.openxmlformats.org/drawingml/2006/main">
              <a:ext uri="{FF2B5EF4-FFF2-40B4-BE49-F238E27FC236}">
                <a16:creationId xmlns:a16="http://schemas.microsoft.com/office/drawing/2014/main" id="{2A3AB2F3-F4FC-4157-BFFB-D5CEBC82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AVITO AI REVIEWER · ПРОМЕЖУТОЧНАЯ ВЕРСИЯ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965EE63-45CF-4E2D-A8DA-657C8864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Проверка растёт быстрее, чем ручной процесс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6330D088-3963-4FA6-A339-E88BB5C2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cxnSp>
        <p:nvCxnSpPr>
          <p:cNvPr id="17" name="problem-rule"/>
          <p:cNvCxnSpPr/>
          <p:nvPr/>
        </p:nvCxn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reviewer-stat">
            <a:extLst xmlns:a="http://schemas.openxmlformats.org/drawingml/2006/main">
              <a:ext uri="{FF2B5EF4-FFF2-40B4-BE49-F238E27FC236}">
                <a16:creationId xmlns:a16="http://schemas.microsoft.com/office/drawing/2014/main" id="{8118EE7C-6C21-433C-89DD-B2915920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5–10</a:t>
            </a:r>
          </a:p>
        </p:txBody>
      </p:sp>
      <p:sp>
        <p:nvSpPr>
          <p:cNvPr id="6" name="reviewer-unit">
            <a:extLst xmlns:a="http://schemas.openxmlformats.org/drawingml/2006/main">
              <a:ext uri="{FF2B5EF4-FFF2-40B4-BE49-F238E27FC236}">
                <a16:creationId xmlns:a16="http://schemas.microsoft.com/office/drawing/2014/main" id="{DBE31CD8-B8EA-4269-A2BC-A3B76B64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часов в неделю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на проверку у эксперта</a:t>
            </a:r>
          </a:p>
        </p:txBody>
      </p:sp>
      <p:sp>
        <p:nvSpPr>
          <p:cNvPr id="7" name="methodist-stat">
            <a:extLst xmlns:a="http://schemas.openxmlformats.org/drawingml/2006/main">
              <a:ext uri="{FF2B5EF4-FFF2-40B4-BE49-F238E27FC236}">
                <a16:creationId xmlns:a16="http://schemas.microsoft.com/office/drawing/2014/main" id="{E1F302E2-11C0-4C06-AF65-1617CBD8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1930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до 10</a:t>
            </a:r>
          </a:p>
        </p:txBody>
      </p:sp>
      <p:sp>
        <p:nvSpPr>
          <p:cNvPr id="8" name="methodist-unit">
            <a:extLst xmlns:a="http://schemas.openxmlformats.org/drawingml/2006/main">
              <a:ext uri="{FF2B5EF4-FFF2-40B4-BE49-F238E27FC236}">
                <a16:creationId xmlns:a16="http://schemas.microsoft.com/office/drawing/2014/main" id="{C0D93187-85F7-4B03-82B5-C630534A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337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часов в неделю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на поддержку процесса</a:t>
            </a:r>
          </a:p>
        </p:txBody>
      </p:sp>
      <p:sp>
        <p:nvSpPr>
          <p:cNvPr id="9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373994D0-AB4A-4BA8-A80F-ED063514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Где теряется время</a:t>
            </a:r>
          </a:p>
        </p:txBody>
      </p:sp>
      <p:sp>
        <p:nvSpPr>
          <p:cNvPr id="10" name="problem-list">
            <a:extLst xmlns:a="http://schemas.openxmlformats.org/drawingml/2006/main">
              <a:ext uri="{FF2B5EF4-FFF2-40B4-BE49-F238E27FC236}">
                <a16:creationId xmlns:a16="http://schemas.microsoft.com/office/drawing/2014/main" id="{DDA11443-4044-4C73-A6F4-96A55C23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4191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ручное распределение работ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поиск доказательств в GitHub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перенос статусов между системами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напоминания и контроль сроков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повторение формальных проверок</a:t>
            </a:r>
          </a:p>
        </p:txBody>
      </p:sp>
      <p:sp>
        <p:nvSpPr>
          <p:cNvPr id="11" name="problem-caveat">
            <a:extLst xmlns:a="http://schemas.openxmlformats.org/drawingml/2006/main">
              <a:ext uri="{FF2B5EF4-FFF2-40B4-BE49-F238E27FC236}">
                <a16:creationId xmlns:a16="http://schemas.microsoft.com/office/drawing/2014/main" id="{6B107726-58F8-4A86-821A-27364BEC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blem-caveat-text">
            <a:extLst xmlns:a="http://schemas.openxmlformats.org/drawingml/2006/main">
              <a:ext uri="{FF2B5EF4-FFF2-40B4-BE49-F238E27FC236}">
                <a16:creationId xmlns:a16="http://schemas.microsoft.com/office/drawing/2014/main" id="{59B44525-0DE4-438E-B2A6-6A81A40E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1061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Цифры — исходные данные кейса. Экономический эффект нашего MVP пока не измерен.</a:t>
            </a:r>
          </a:p>
        </p:txBody>
      </p:sp>
      <p:sp>
        <p:nvSpPr>
          <p:cNvPr id="13" name="problem-source">
            <a:extLst xmlns:a="http://schemas.openxmlformats.org/drawingml/2006/main">
              <a:ext uri="{FF2B5EF4-FFF2-40B4-BE49-F238E27FC236}">
                <a16:creationId xmlns:a16="http://schemas.microsoft.com/office/drawing/2014/main" id="{37593A62-63E3-4EE1-AC63-F885FA6B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Источник: описание кейса Avito AI Reviewer</a:t>
            </a:r>
          </a:p>
        </p:txBody>
      </p:sp>
    </p:spTree>
    <p:extLst>
      <p:ext uri="{BB962C8B-B14F-4D97-AF65-F5344CB8AC3E}">
        <p14:creationId xmlns:p14="http://schemas.microsoft.com/office/powerpoint/2010/main" val="2238923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3">
            <a:extLst xmlns:a="http://schemas.openxmlformats.org/drawingml/2006/main">
              <a:ext uri="{FF2B5EF4-FFF2-40B4-BE49-F238E27FC236}">
                <a16:creationId xmlns:a16="http://schemas.microsoft.com/office/drawing/2014/main" id="{A98B6E34-FE3F-4093-8856-3E1DA956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AVITO AI REVIEWER · ПРОМЕЖУТОЧНАЯ ВЕРСИЯ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8BC1A31-482F-4A18-B689-3E2CE03D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MVP глубоко автоматизирует один сценарий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6ABA8F5D-53D4-4C91-9086-247C3A25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scope-main">
            <a:extLst xmlns:a="http://schemas.openxmlformats.org/drawingml/2006/main">
              <a:ext uri="{FF2B5EF4-FFF2-40B4-BE49-F238E27FC236}">
                <a16:creationId xmlns:a16="http://schemas.microsoft.com/office/drawing/2014/main" id="{6CFD21D3-AE90-41A8-89E1-15BFBD32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Go task1–task3 · GitHub · сайт + Telegram</a:t>
            </a:r>
          </a:p>
        </p:txBody>
      </p:sp>
      <p:sp>
        <p:nvSpPr>
          <p:cNvPr id="5" name="scope-in-bg">
            <a:extLst xmlns:a="http://schemas.openxmlformats.org/drawingml/2006/main">
              <a:ext uri="{FF2B5EF4-FFF2-40B4-BE49-F238E27FC236}">
                <a16:creationId xmlns:a16="http://schemas.microsoft.com/office/drawing/2014/main" id="{622D666B-8014-4CEC-90D0-C892F2E7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1911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cope-out-bg">
            <a:extLst xmlns:a="http://schemas.openxmlformats.org/drawingml/2006/main">
              <a:ext uri="{FF2B5EF4-FFF2-40B4-BE49-F238E27FC236}">
                <a16:creationId xmlns:a16="http://schemas.microsoft.com/office/drawing/2014/main" id="{25F5B48B-197B-4BFE-AD4F-599878D3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152650"/>
            <a:ext cx="5724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ope-in-title">
            <a:extLst xmlns:a="http://schemas.openxmlformats.org/drawingml/2006/main">
              <a:ext uri="{FF2B5EF4-FFF2-40B4-BE49-F238E27FC236}">
                <a16:creationId xmlns:a16="http://schemas.microsoft.com/office/drawing/2014/main" id="{F311F1A2-A25E-401D-A74E-7FA39E63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 MVP</a:t>
            </a:r>
          </a:p>
        </p:txBody>
      </p:sp>
      <p:sp>
        <p:nvSpPr>
          <p:cNvPr id="8" name="scope-in-list">
            <a:extLst xmlns:a="http://schemas.openxmlformats.org/drawingml/2006/main">
              <a:ext uri="{FF2B5EF4-FFF2-40B4-BE49-F238E27FC236}">
                <a16:creationId xmlns:a16="http://schemas.microsoft.com/office/drawing/2014/main" id="{F76EE68F-902C-4FD2-9A2C-060BA9BB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4572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GitHub App и фиксация commit SHA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автоматическое назначение ревьюера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баллы и уверенность по критериям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отказ от сомнительной оценки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подтверждение результата человеком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Telegram, Excel и аналитика</a:t>
            </a:r>
          </a:p>
        </p:txBody>
      </p:sp>
      <p:sp>
        <p:nvSpPr>
          <p:cNvPr id="9" name="scope-out-title">
            <a:extLst xmlns:a="http://schemas.openxmlformats.org/drawingml/2006/main">
              <a:ext uri="{FF2B5EF4-FFF2-40B4-BE49-F238E27FC236}">
                <a16:creationId xmlns:a16="http://schemas.microsoft.com/office/drawing/2014/main" id="{2813C4D4-5C41-41F6-B58D-4C331AFF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19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Сознательно не делаем сейчас</a:t>
            </a:r>
          </a:p>
        </p:txBody>
      </p:sp>
      <p:sp>
        <p:nvSpPr>
          <p:cNvPr id="10" name="scope-out-list">
            <a:extLst xmlns:a="http://schemas.openxmlformats.org/drawingml/2006/main">
              <a:ext uri="{FF2B5EF4-FFF2-40B4-BE49-F238E27FC236}">
                <a16:creationId xmlns:a16="http://schemas.microsoft.com/office/drawing/2014/main" id="{B1AE2465-54FF-471E-8BD2-37B0DEB9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90850"/>
            <a:ext cx="4953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все курсы и форматы заданий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автоматическую финальную оценку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санкции по AI-сигналу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полную систему авторизации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доказанный эффект без пилота</a:t>
            </a:r>
          </a:p>
        </p:txBody>
      </p:sp>
      <p:sp>
        <p:nvSpPr>
          <p:cNvPr id="11" name="scope-users">
            <a:extLst xmlns:a="http://schemas.openxmlformats.org/drawingml/2006/main">
              <a:ext uri="{FF2B5EF4-FFF2-40B4-BE49-F238E27FC236}">
                <a16:creationId xmlns:a16="http://schemas.microsoft.com/office/drawing/2014/main" id="{644084E4-F742-4541-BF23-A21A303F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064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Координатор управляет процессом · Ревьюер принимает решение · Студент получает подтверждённую обратную связь</a:t>
            </a:r>
          </a:p>
        </p:txBody>
      </p:sp>
    </p:spTree>
    <p:extLst>
      <p:ext uri="{BB962C8B-B14F-4D97-AF65-F5344CB8AC3E}">
        <p14:creationId xmlns:p14="http://schemas.microsoft.com/office/powerpoint/2010/main" val="2602575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4">
            <a:extLst xmlns:a="http://schemas.openxmlformats.org/drawingml/2006/main">
              <a:ext uri="{FF2B5EF4-FFF2-40B4-BE49-F238E27FC236}">
                <a16:creationId xmlns:a16="http://schemas.microsoft.com/office/drawing/2014/main" id="{CDCCA242-F17F-4044-BFBF-1BC56BA0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AVITO AI REVIEWER · ПРОМЕЖУТОЧНАЯ ВЕРСИЯ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D95331E-2EF7-411D-A944-F7B3C08F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Один экран заменяет ручную склейку процесса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3C64D172-5739-44C4-A86B-DEFC4C67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current-bg">
            <a:extLst xmlns:a="http://schemas.openxmlformats.org/drawingml/2006/main">
              <a:ext uri="{FF2B5EF4-FFF2-40B4-BE49-F238E27FC236}">
                <a16:creationId xmlns:a16="http://schemas.microsoft.com/office/drawing/2014/main" id="{E162DC3C-E191-4436-87C0-C063C326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508635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arget-bg">
            <a:extLst xmlns:a="http://schemas.openxmlformats.org/drawingml/2006/main">
              <a:ext uri="{FF2B5EF4-FFF2-40B4-BE49-F238E27FC236}">
                <a16:creationId xmlns:a16="http://schemas.microsoft.com/office/drawing/2014/main" id="{B5398304-B31E-4AC4-A435-8B617198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581150"/>
            <a:ext cx="581025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urrent-title">
            <a:extLst xmlns:a="http://schemas.openxmlformats.org/drawingml/2006/main">
              <a:ext uri="{FF2B5EF4-FFF2-40B4-BE49-F238E27FC236}">
                <a16:creationId xmlns:a16="http://schemas.microsoft.com/office/drawing/2014/main" id="{0779CBFD-06BA-439B-A589-9CFFF544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Сейчас</a:t>
            </a:r>
          </a:p>
        </p:txBody>
      </p:sp>
      <p:sp>
        <p:nvSpPr>
          <p:cNvPr id="7" name="current-list">
            <a:extLst xmlns:a="http://schemas.openxmlformats.org/drawingml/2006/main">
              <a:ext uri="{FF2B5EF4-FFF2-40B4-BE49-F238E27FC236}">
                <a16:creationId xmlns:a16="http://schemas.microsoft.com/office/drawing/2014/main" id="{BE66F6D6-46F9-435B-9914-1A036642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4286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методист вручную назначает работу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ревьюер сам собирает контекст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критерии проверяются вручную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статусы переносятся в таблицу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напоминания отправляются отдельно</a:t>
            </a:r>
          </a:p>
        </p:txBody>
      </p:sp>
      <p:sp>
        <p:nvSpPr>
          <p:cNvPr id="8" name="current-result">
            <a:extLst xmlns:a="http://schemas.openxmlformats.org/drawingml/2006/main">
              <a:ext uri="{FF2B5EF4-FFF2-40B4-BE49-F238E27FC236}">
                <a16:creationId xmlns:a16="http://schemas.microsoft.com/office/drawing/2014/main" id="{BD9785BD-8A65-45F8-AD96-DCCE24F7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Итог: много переключений и непрозрачная очередь</a:t>
            </a:r>
          </a:p>
        </p:txBody>
      </p:sp>
      <p:sp>
        <p:nvSpPr>
          <p:cNvPr id="9" name="target-title">
            <a:extLst xmlns:a="http://schemas.openxmlformats.org/drawingml/2006/main">
              <a:ext uri="{FF2B5EF4-FFF2-40B4-BE49-F238E27FC236}">
                <a16:creationId xmlns:a16="http://schemas.microsoft.com/office/drawing/2014/main" id="{F3BFB3E1-7441-4C28-9209-60A4ADCA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478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 MVP</a:t>
            </a:r>
          </a:p>
        </p:txBody>
      </p:sp>
      <p:sp>
        <p:nvSpPr>
          <p:cNvPr id="10" name="target-list">
            <a:extLst xmlns:a="http://schemas.openxmlformats.org/drawingml/2006/main">
              <a:ext uri="{FF2B5EF4-FFF2-40B4-BE49-F238E27FC236}">
                <a16:creationId xmlns:a16="http://schemas.microsoft.com/office/drawing/2014/main" id="{861C9B3E-0B79-445A-9361-FF45DE63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57450"/>
            <a:ext cx="4857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GitHub событие создаёт работу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планировщик объясняет назначение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система собирает доказательства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AI предлагает баллы или отказывается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человек утверждает результат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Telegram и Excel завершают процесс</a:t>
            </a:r>
          </a:p>
        </p:txBody>
      </p:sp>
      <p:sp>
        <p:nvSpPr>
          <p:cNvPr id="11" name="target-result">
            <a:extLst xmlns:a="http://schemas.openxmlformats.org/drawingml/2006/main">
              <a:ext uri="{FF2B5EF4-FFF2-40B4-BE49-F238E27FC236}">
                <a16:creationId xmlns:a16="http://schemas.microsoft.com/office/drawing/2014/main" id="{CEEF5B3F-B2D0-4678-9008-77E26965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435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A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8A56"/>
                </a:solidFill>
                <a:latin typeface="Helvetica Neue"/>
                <a:ea typeface="Helvetica Neue"/>
                <a:cs typeface="Helvetica Neue"/>
              </a:rPr>
              <a:t>Итог: человек контролирует решение, а не перенос данных</a:t>
            </a:r>
          </a:p>
        </p:txBody>
      </p:sp>
    </p:spTree>
    <p:extLst>
      <p:ext uri="{BB962C8B-B14F-4D97-AF65-F5344CB8AC3E}">
        <p14:creationId xmlns:p14="http://schemas.microsoft.com/office/powerpoint/2010/main" val="9042870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5">
            <a:extLst xmlns:a="http://schemas.openxmlformats.org/drawingml/2006/main">
              <a:ext uri="{FF2B5EF4-FFF2-40B4-BE49-F238E27FC236}">
                <a16:creationId xmlns:a16="http://schemas.microsoft.com/office/drawing/2014/main" id="{99CC070A-2D03-4B68-A1AD-B8979EF6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AVITO AI REVIEWER · ПРОМЕЖУТОЧНАЯ ВЕРСИЯ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DC71DCE-5FF0-4278-9AB8-46297FC4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Главная гипотеза: AI готовит решение, но не принимает его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4ADF5598-A670-4C41-BB80-EBC53DA7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hypothesis">
            <a:extLst xmlns:a="http://schemas.openxmlformats.org/drawingml/2006/main">
              <a:ext uri="{FF2B5EF4-FFF2-40B4-BE49-F238E27FC236}">
                <a16:creationId xmlns:a16="http://schemas.microsoft.com/office/drawing/2014/main" id="{4196FAA7-6702-4B48-89D0-913BFFCF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Если система сама назначает работу, собирает доказательства и отдаёт структурированный черновик, то команда сократит повторяющиеся действия без потери человеческого контроля.</a:t>
            </a:r>
          </a:p>
        </p:txBody>
      </p:sp>
      <p:cxnSp>
        <p:nvCxnSpPr>
          <p:cNvPr id="20" name="hypothesis-rule"/>
          <p:cNvCxnSpPr/>
          <p:nvPr/>
        </p:nvCxnSpPr>
        <p:spPr>
          <a:xfrm xmlns:a="http://schemas.openxmlformats.org/drawingml/2006/main">
            <a:off x="533400" y="28765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6" name="hyp-num-0">
            <a:extLst xmlns:a="http://schemas.openxmlformats.org/drawingml/2006/main">
              <a:ext uri="{FF2B5EF4-FFF2-40B4-BE49-F238E27FC236}">
                <a16:creationId xmlns:a16="http://schemas.microsoft.com/office/drawing/2014/main" id="{61E33C88-F045-49E2-A9BB-68ACA29B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hyp-title-0">
            <a:extLst xmlns:a="http://schemas.openxmlformats.org/drawingml/2006/main">
              <a:ext uri="{FF2B5EF4-FFF2-40B4-BE49-F238E27FC236}">
                <a16:creationId xmlns:a16="http://schemas.microsoft.com/office/drawing/2014/main" id="{C4A39655-8FEC-46ED-BC01-095CAFFB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Качество</a:t>
            </a:r>
          </a:p>
        </p:txBody>
      </p:sp>
      <p:sp>
        <p:nvSpPr>
          <p:cNvPr id="8" name="hyp-body-0">
            <a:extLst xmlns:a="http://schemas.openxmlformats.org/drawingml/2006/main">
              <a:ext uri="{FF2B5EF4-FFF2-40B4-BE49-F238E27FC236}">
                <a16:creationId xmlns:a16="http://schemas.microsoft.com/office/drawing/2014/main" id="{E22EA0A0-8623-4FE6-B810-E14D616B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Хорошее решение должно получить результат выше среднего, а среднее — выше слабого.</a:t>
            </a:r>
          </a:p>
        </p:txBody>
      </p:sp>
      <p:sp>
        <p:nvSpPr>
          <p:cNvPr id="9" name="hyp-num-1">
            <a:extLst xmlns:a="http://schemas.openxmlformats.org/drawingml/2006/main">
              <a:ext uri="{FF2B5EF4-FFF2-40B4-BE49-F238E27FC236}">
                <a16:creationId xmlns:a16="http://schemas.microsoft.com/office/drawing/2014/main" id="{B12D2B4B-E0D5-46C0-8441-444B4CDF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528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hyp-title-1">
            <a:extLst xmlns:a="http://schemas.openxmlformats.org/drawingml/2006/main">
              <a:ext uri="{FF2B5EF4-FFF2-40B4-BE49-F238E27FC236}">
                <a16:creationId xmlns:a16="http://schemas.microsoft.com/office/drawing/2014/main" id="{02A02BBC-E590-4345-9A39-03A21D7F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10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Безопасный отказ</a:t>
            </a:r>
          </a:p>
        </p:txBody>
      </p:sp>
      <p:sp>
        <p:nvSpPr>
          <p:cNvPr id="11" name="hyp-body-1">
            <a:extLst xmlns:a="http://schemas.openxmlformats.org/drawingml/2006/main">
              <a:ext uri="{FF2B5EF4-FFF2-40B4-BE49-F238E27FC236}">
                <a16:creationId xmlns:a16="http://schemas.microsoft.com/office/drawing/2014/main" id="{A9FB2DFC-DAA6-4338-8C17-151649FC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3624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Неоднозначный критерий уходит человеку без предложенного балла.</a:t>
            </a:r>
          </a:p>
        </p:txBody>
      </p:sp>
      <p:sp>
        <p:nvSpPr>
          <p:cNvPr id="12" name="hyp-num-2">
            <a:extLst xmlns:a="http://schemas.openxmlformats.org/drawingml/2006/main">
              <a:ext uri="{FF2B5EF4-FFF2-40B4-BE49-F238E27FC236}">
                <a16:creationId xmlns:a16="http://schemas.microsoft.com/office/drawing/2014/main" id="{3D518A82-487C-4935-85D3-D234682E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528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hyp-title-2">
            <a:extLst xmlns:a="http://schemas.openxmlformats.org/drawingml/2006/main">
              <a:ext uri="{FF2B5EF4-FFF2-40B4-BE49-F238E27FC236}">
                <a16:creationId xmlns:a16="http://schemas.microsoft.com/office/drawing/2014/main" id="{66F27127-ED34-42D9-8EDD-43997B00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10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Эксплуатация</a:t>
            </a:r>
          </a:p>
        </p:txBody>
      </p:sp>
      <p:sp>
        <p:nvSpPr>
          <p:cNvPr id="14" name="hyp-body-2">
            <a:extLst xmlns:a="http://schemas.openxmlformats.org/drawingml/2006/main">
              <a:ext uri="{FF2B5EF4-FFF2-40B4-BE49-F238E27FC236}">
                <a16:creationId xmlns:a16="http://schemas.microsoft.com/office/drawing/2014/main" id="{84A7BD26-F714-4B84-A059-34ACF3C2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624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Фиксируем стоимость и задержку каждого прогона; общий целевой бюджет — до 3 000 ₽.</a:t>
            </a:r>
          </a:p>
        </p:txBody>
      </p:sp>
      <p:sp>
        <p:nvSpPr>
          <p:cNvPr id="15" name="hyp-caveat">
            <a:extLst xmlns:a="http://schemas.openxmlformats.org/drawingml/2006/main">
              <a:ext uri="{FF2B5EF4-FFF2-40B4-BE49-F238E27FC236}">
                <a16:creationId xmlns:a16="http://schemas.microsoft.com/office/drawing/2014/main" id="{5C200F76-D807-42AC-A3EF-6A2C070E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Это критерии проверки к финалу, а не уже полученные результаты.</a:t>
            </a:r>
          </a:p>
        </p:txBody>
      </p:sp>
    </p:spTree>
    <p:extLst>
      <p:ext uri="{BB962C8B-B14F-4D97-AF65-F5344CB8AC3E}">
        <p14:creationId xmlns:p14="http://schemas.microsoft.com/office/powerpoint/2010/main" val="11543229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-6">
            <a:extLst xmlns:a="http://schemas.openxmlformats.org/drawingml/2006/main">
              <a:ext uri="{FF2B5EF4-FFF2-40B4-BE49-F238E27FC236}">
                <a16:creationId xmlns:a16="http://schemas.microsoft.com/office/drawing/2014/main" id="{BFC86626-08C5-45B3-941F-20E0FD58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AVITO AI REVIEWER · ПРОМЕЖУТОЧНАЯ ВЕРСИЯ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05853BA0-3B70-455E-8F23-71CC72A4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67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Сквозной сценарий заканчивается подтверждённым результатом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90985606-1C96-4211-8F5B-0E9B31F2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cxnSp>
        <p:nvCxnSpPr>
          <p:cNvPr id="38" name="flow-arrow-0"/>
          <p:cNvCxnSpPr/>
          <p:nvPr/>
        </p:nvCxnSpPr>
        <p:spPr>
          <a:xfrm xmlns:a="http://schemas.openxmlformats.org/drawingml/2006/main">
            <a:off x="2095500" y="32861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9" name="flow-arrow-1"/>
          <p:cNvCxnSpPr/>
          <p:nvPr/>
        </p:nvCxnSpPr>
        <p:spPr>
          <a:xfrm xmlns:a="http://schemas.openxmlformats.org/drawingml/2006/main">
            <a:off x="3924300" y="32861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0" name="flow-arrow-2"/>
          <p:cNvCxnSpPr/>
          <p:nvPr/>
        </p:nvCxnSpPr>
        <p:spPr>
          <a:xfrm xmlns:a="http://schemas.openxmlformats.org/drawingml/2006/main">
            <a:off x="5753100" y="32861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1" name="flow-arrow-3"/>
          <p:cNvCxnSpPr/>
          <p:nvPr/>
        </p:nvCxnSpPr>
        <p:spPr>
          <a:xfrm xmlns:a="http://schemas.openxmlformats.org/drawingml/2006/main">
            <a:off x="7581900" y="32861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2" name="flow-arrow-4"/>
          <p:cNvCxnSpPr/>
          <p:nvPr/>
        </p:nvCxnSpPr>
        <p:spPr>
          <a:xfrm xmlns:a="http://schemas.openxmlformats.org/drawingml/2006/main">
            <a:off x="9410700" y="32861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9" name="flow-node-0">
            <a:extLst xmlns:a="http://schemas.openxmlformats.org/drawingml/2006/main">
              <a:ext uri="{FF2B5EF4-FFF2-40B4-BE49-F238E27FC236}">
                <a16:creationId xmlns:a16="http://schemas.microsoft.com/office/drawing/2014/main" id="{8DDDBF47-A296-423D-80D1-8562A5BE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562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F979BABE-69D7-4253-97DE-DC5631F2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DBF6D78F-DFC1-439E-ACEB-C73D16D5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GitHub</a:t>
            </a:r>
          </a:p>
        </p:txBody>
      </p:sp>
      <p:sp>
        <p:nvSpPr>
          <p:cNvPr id="12" name="flow-body-0">
            <a:extLst xmlns:a="http://schemas.openxmlformats.org/drawingml/2006/main">
              <a:ext uri="{FF2B5EF4-FFF2-40B4-BE49-F238E27FC236}">
                <a16:creationId xmlns:a16="http://schemas.microsoft.com/office/drawing/2014/main" id="{FE6611BC-B60D-4847-B033-4FD55CDA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Новая версия работы</a:t>
            </a:r>
          </a:p>
        </p:txBody>
      </p:sp>
      <p:sp>
        <p:nvSpPr>
          <p:cNvPr id="13" name="flow-node-1">
            <a:extLst xmlns:a="http://schemas.openxmlformats.org/drawingml/2006/main">
              <a:ext uri="{FF2B5EF4-FFF2-40B4-BE49-F238E27FC236}">
                <a16:creationId xmlns:a16="http://schemas.microsoft.com/office/drawing/2014/main" id="{57DEB99E-02A8-4F36-BEF4-3F549BED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71750"/>
            <a:ext cx="1562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3A2C7EDB-4CCE-4E80-BBA1-29C03C15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05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8B4B34EF-1A87-44B3-B839-7C230C36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8132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Назначение</a:t>
            </a:r>
          </a:p>
        </p:txBody>
      </p:sp>
      <p:sp>
        <p:nvSpPr>
          <p:cNvPr id="16" name="flow-body-1">
            <a:extLst xmlns:a="http://schemas.openxmlformats.org/drawingml/2006/main">
              <a:ext uri="{FF2B5EF4-FFF2-40B4-BE49-F238E27FC236}">
                <a16:creationId xmlns:a16="http://schemas.microsoft.com/office/drawing/2014/main" id="{56E22E1C-0B4A-4BA6-A21D-37654986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528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Специализация и очередь</a:t>
            </a:r>
          </a:p>
        </p:txBody>
      </p:sp>
      <p:sp>
        <p:nvSpPr>
          <p:cNvPr id="17" name="flow-node-2">
            <a:extLst xmlns:a="http://schemas.openxmlformats.org/drawingml/2006/main">
              <a:ext uri="{FF2B5EF4-FFF2-40B4-BE49-F238E27FC236}">
                <a16:creationId xmlns:a16="http://schemas.microsoft.com/office/drawing/2014/main" id="{DC2AFA55-3B4E-457D-BC9C-49B02FF3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71750"/>
            <a:ext cx="1562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DDE43A9F-B83E-4437-9EE5-965BB734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05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25867C6C-A3F9-427F-B8DE-4C740B26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8132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Sandbox</a:t>
            </a:r>
          </a:p>
        </p:txBody>
      </p:sp>
      <p:sp>
        <p:nvSpPr>
          <p:cNvPr id="20" name="flow-body-2">
            <a:extLst xmlns:a="http://schemas.openxmlformats.org/drawingml/2006/main">
              <a:ext uri="{FF2B5EF4-FFF2-40B4-BE49-F238E27FC236}">
                <a16:creationId xmlns:a16="http://schemas.microsoft.com/office/drawing/2014/main" id="{0B44DD4C-63CC-46A1-A249-A9FC3F80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528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Сборка, тесты, структура</a:t>
            </a:r>
          </a:p>
        </p:txBody>
      </p:sp>
      <p:sp>
        <p:nvSpPr>
          <p:cNvPr id="21" name="flow-node-3">
            <a:extLst xmlns:a="http://schemas.openxmlformats.org/drawingml/2006/main">
              <a:ext uri="{FF2B5EF4-FFF2-40B4-BE49-F238E27FC236}">
                <a16:creationId xmlns:a16="http://schemas.microsoft.com/office/drawing/2014/main" id="{008B9DC7-E16F-4161-82F3-C564E156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71750"/>
            <a:ext cx="1562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BDCECEDD-5351-4E31-9CAA-D507A0ED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05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3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F95BB7E9-4A3B-45BC-8FBF-E6E0BD3A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8132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 review</a:t>
            </a:r>
          </a:p>
        </p:txBody>
      </p:sp>
      <p:sp>
        <p:nvSpPr>
          <p:cNvPr id="2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A2ED88D4-F13F-46D5-BC69-852CFDE1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Баллы, доказательства, confidence</a:t>
            </a:r>
          </a:p>
        </p:txBody>
      </p:sp>
      <p:sp>
        <p:nvSpPr>
          <p:cNvPr id="25" name="flow-node-4">
            <a:extLst xmlns:a="http://schemas.openxmlformats.org/drawingml/2006/main">
              <a:ext uri="{FF2B5EF4-FFF2-40B4-BE49-F238E27FC236}">
                <a16:creationId xmlns:a16="http://schemas.microsoft.com/office/drawing/2014/main" id="{17083DE7-8763-4269-B28D-588B7AEA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1562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F1DBB7F6-7407-45B6-AEBB-F9B439B6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05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7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ED1CBA1B-83C3-487A-9E7B-FB13BF23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8132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Ревьюер</a:t>
            </a:r>
          </a:p>
        </p:txBody>
      </p:sp>
      <p:sp>
        <p:nvSpPr>
          <p:cNvPr id="28" name="flow-body-4">
            <a:extLst xmlns:a="http://schemas.openxmlformats.org/drawingml/2006/main">
              <a:ext uri="{FF2B5EF4-FFF2-40B4-BE49-F238E27FC236}">
                <a16:creationId xmlns:a16="http://schemas.microsoft.com/office/drawing/2014/main" id="{C7B8B768-6247-4B9F-BDE0-E56F5B44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528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4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Принять, изменить или отказать</a:t>
            </a:r>
          </a:p>
        </p:txBody>
      </p:sp>
      <p:sp>
        <p:nvSpPr>
          <p:cNvPr id="29" name="flow-node-5">
            <a:extLst xmlns:a="http://schemas.openxmlformats.org/drawingml/2006/main">
              <a:ext uri="{FF2B5EF4-FFF2-40B4-BE49-F238E27FC236}">
                <a16:creationId xmlns:a16="http://schemas.microsoft.com/office/drawing/2014/main" id="{B72ED6AC-EF52-45D9-9034-A04A6577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71750"/>
            <a:ext cx="1562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low-index-5">
            <a:extLst xmlns:a="http://schemas.openxmlformats.org/drawingml/2006/main">
              <a:ext uri="{FF2B5EF4-FFF2-40B4-BE49-F238E27FC236}">
                <a16:creationId xmlns:a16="http://schemas.microsoft.com/office/drawing/2014/main" id="{DA0E54D8-85B1-4026-B941-DBE38598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05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1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8B798590-6F3A-475C-8DEE-E17127A5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8132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32" name="flow-body-5">
            <a:extLst xmlns:a="http://schemas.openxmlformats.org/drawingml/2006/main">
              <a:ext uri="{FF2B5EF4-FFF2-40B4-BE49-F238E27FC236}">
                <a16:creationId xmlns:a16="http://schemas.microsoft.com/office/drawing/2014/main" id="{B5DCDE03-6B8E-4ACC-91C5-468DED6C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528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Студент, Excel, аналитика, Telegram</a:t>
            </a:r>
          </a:p>
        </p:txBody>
      </p:sp>
      <p:sp>
        <p:nvSpPr>
          <p:cNvPr id="33" name="flow-guard">
            <a:extLst xmlns:a="http://schemas.openxmlformats.org/drawingml/2006/main">
              <a:ext uri="{FF2B5EF4-FFF2-40B4-BE49-F238E27FC236}">
                <a16:creationId xmlns:a16="http://schemas.microsoft.com/office/drawing/2014/main" id="{72E87C62-D55B-45E4-806D-E2C59E72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low-guard-text">
            <a:extLst xmlns:a="http://schemas.openxmlformats.org/drawingml/2006/main">
              <a:ext uri="{FF2B5EF4-FFF2-40B4-BE49-F238E27FC236}">
                <a16:creationId xmlns:a16="http://schemas.microsoft.com/office/drawing/2014/main" id="{0B08103D-8661-4F71-8F30-50AA6595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1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Ключевой guardrail: если доказательств недостаточно, критерий получает needs_human, а не выдуманный балл.</a:t>
            </a:r>
          </a:p>
        </p:txBody>
      </p:sp>
    </p:spTree>
    <p:extLst>
      <p:ext uri="{BB962C8B-B14F-4D97-AF65-F5344CB8AC3E}">
        <p14:creationId xmlns:p14="http://schemas.microsoft.com/office/powerpoint/2010/main" val="4822271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7">
            <a:extLst xmlns:a="http://schemas.openxmlformats.org/drawingml/2006/main">
              <a:ext uri="{FF2B5EF4-FFF2-40B4-BE49-F238E27FC236}">
                <a16:creationId xmlns:a16="http://schemas.microsoft.com/office/drawing/2014/main" id="{BE00B8D8-03D4-4A5A-9A4B-EA2388D1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AVITO AI REVIEWER · ПРОМЕЖУТОЧНАЯ ВЕРСИЯ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AA472EF-2A6D-4C93-9927-DD178E66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5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Качество строится на доказательствах и независимой проверке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51DE9C90-DF91-44E2-BBEA-E5F717DB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pipe-left-title">
            <a:extLst xmlns:a="http://schemas.openxmlformats.org/drawingml/2006/main">
              <a:ext uri="{FF2B5EF4-FFF2-40B4-BE49-F238E27FC236}">
                <a16:creationId xmlns:a16="http://schemas.microsoft.com/office/drawing/2014/main" id="{4737261D-18B7-4888-90C1-1910CA9D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Детерминированный слой</a:t>
            </a:r>
          </a:p>
        </p:txBody>
      </p:sp>
      <p:sp>
        <p:nvSpPr>
          <p:cNvPr id="5" name="pipe-left-list">
            <a:extLst xmlns:a="http://schemas.openxmlformats.org/drawingml/2006/main">
              <a:ext uri="{FF2B5EF4-FFF2-40B4-BE49-F238E27FC236}">
                <a16:creationId xmlns:a16="http://schemas.microsoft.com/office/drawing/2014/main" id="{1D5A3970-DAAC-4A2D-A180-5A751109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фиксирует commit SHA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читает дерево проекта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запускает разрешённые Go-проверки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собирает ссылки на файлы и строки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не интерпретирует неизвестное как ошибку</a:t>
            </a:r>
          </a:p>
        </p:txBody>
      </p:sp>
      <p:sp>
        <p:nvSpPr>
          <p:cNvPr id="6" name="pipe-divider">
            <a:extLst xmlns:a="http://schemas.openxmlformats.org/drawingml/2006/main">
              <a:ext uri="{FF2B5EF4-FFF2-40B4-BE49-F238E27FC236}">
                <a16:creationId xmlns:a16="http://schemas.microsoft.com/office/drawing/2014/main" id="{A0B1BAE7-862C-4DCF-B7C6-29924B38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85900"/>
            <a:ext cx="190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ipe-right-title">
            <a:extLst xmlns:a="http://schemas.openxmlformats.org/drawingml/2006/main">
              <a:ext uri="{FF2B5EF4-FFF2-40B4-BE49-F238E27FC236}">
                <a16:creationId xmlns:a16="http://schemas.microsoft.com/office/drawing/2014/main" id="{E1193611-2866-44E9-B413-7E977F4C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Модельный слой</a:t>
            </a:r>
          </a:p>
        </p:txBody>
      </p:sp>
      <p:sp>
        <p:nvSpPr>
          <p:cNvPr id="8" name="pipe-right-list">
            <a:extLst xmlns:a="http://schemas.openxmlformats.org/drawingml/2006/main">
              <a:ext uri="{FF2B5EF4-FFF2-40B4-BE49-F238E27FC236}">
                <a16:creationId xmlns:a16="http://schemas.microsoft.com/office/drawing/2014/main" id="{97FC4D92-3FFC-46BB-A4B9-F956401D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отдельные оценщики task1, task2 и task3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критик ищет неподтверждённые выводы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арбитр объединяет доказательства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confidence считается по каждому критерию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AI-сигнал живёт отдельно от оценки</a:t>
            </a:r>
          </a:p>
        </p:txBody>
      </p:sp>
      <p:sp>
        <p:nvSpPr>
          <p:cNvPr id="9" name="pipe-output">
            <a:extLst xmlns:a="http://schemas.openxmlformats.org/drawingml/2006/main">
              <a:ext uri="{FF2B5EF4-FFF2-40B4-BE49-F238E27FC236}">
                <a16:creationId xmlns:a16="http://schemas.microsoft.com/office/drawing/2014/main" id="{DBA3C633-6BE2-4565-8F0C-47E1F344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9677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ipe-output-text">
            <a:extLst xmlns:a="http://schemas.openxmlformats.org/drawingml/2006/main">
              <a:ext uri="{FF2B5EF4-FFF2-40B4-BE49-F238E27FC236}">
                <a16:creationId xmlns:a16="http://schemas.microsoft.com/office/drawing/2014/main" id="{41D2A798-D143-472D-A6D6-0DE09AAE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3875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criterion → pass / partial / fail / needs_human → балл → confidence → evidence → feedback</a:t>
            </a:r>
          </a:p>
        </p:txBody>
      </p:sp>
    </p:spTree>
    <p:extLst>
      <p:ext uri="{BB962C8B-B14F-4D97-AF65-F5344CB8AC3E}">
        <p14:creationId xmlns:p14="http://schemas.microsoft.com/office/powerpoint/2010/main" val="15632586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8">
            <a:extLst xmlns:a="http://schemas.openxmlformats.org/drawingml/2006/main">
              <a:ext uri="{FF2B5EF4-FFF2-40B4-BE49-F238E27FC236}">
                <a16:creationId xmlns:a16="http://schemas.microsoft.com/office/drawing/2014/main" id="{EEB1396A-E658-44FA-9CBA-4AFB6230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AVITO AI REVIEWER · ПРОМЕЖУТОЧНАЯ ВЕРСИЯ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34F590E6-021C-4A2E-9E3C-515392AA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35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Архитектура разделяет интеграции, исполнение кода и решение человека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4B8D402B-A6B0-4AB3-8C4D-24BC0D24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cxnSp>
        <p:nvCxnSpPr>
          <p:cNvPr id="29" name="arch-arrow-0"/>
          <p:cNvCxnSpPr/>
          <p:nvPr/>
        </p:nvCxnSpPr>
        <p:spPr>
          <a:xfrm xmlns:a="http://schemas.openxmlformats.org/drawingml/2006/main">
            <a:off x="2590800" y="32766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0" name="arch-arrow-1"/>
          <p:cNvCxnSpPr/>
          <p:nvPr/>
        </p:nvCxnSpPr>
        <p:spPr>
          <a:xfrm xmlns:a="http://schemas.openxmlformats.org/drawingml/2006/main">
            <a:off x="5105400" y="32766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1" name="arch-arrow-2"/>
          <p:cNvCxnSpPr/>
          <p:nvPr/>
        </p:nvCxnSpPr>
        <p:spPr>
          <a:xfrm xmlns:a="http://schemas.openxmlformats.org/drawingml/2006/main">
            <a:off x="7620000" y="32766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7" name="arch-kicker-0">
            <a:extLst xmlns:a="http://schemas.openxmlformats.org/drawingml/2006/main">
              <a:ext uri="{FF2B5EF4-FFF2-40B4-BE49-F238E27FC236}">
                <a16:creationId xmlns:a16="http://schemas.microsoft.com/office/drawing/2014/main" id="{AAA2509A-FE4E-4FF0-8386-44BC86CF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arch-title-0">
            <a:extLst xmlns:a="http://schemas.openxmlformats.org/drawingml/2006/main">
              <a:ext uri="{FF2B5EF4-FFF2-40B4-BE49-F238E27FC236}">
                <a16:creationId xmlns:a16="http://schemas.microsoft.com/office/drawing/2014/main" id="{F3AC53CD-1F0E-436C-84C0-8F2D473E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Каналы</a:t>
            </a:r>
          </a:p>
        </p:txBody>
      </p:sp>
      <p:sp>
        <p:nvSpPr>
          <p:cNvPr id="9" name="arch-box-0">
            <a:extLst xmlns:a="http://schemas.openxmlformats.org/drawingml/2006/main">
              <a:ext uri="{FF2B5EF4-FFF2-40B4-BE49-F238E27FC236}">
                <a16:creationId xmlns:a16="http://schemas.microsoft.com/office/drawing/2014/main" id="{C005C473-ECA6-4AB6-A0F2-D2F797B6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9050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rch-body-0">
            <a:extLst xmlns:a="http://schemas.openxmlformats.org/drawingml/2006/main">
              <a:ext uri="{FF2B5EF4-FFF2-40B4-BE49-F238E27FC236}">
                <a16:creationId xmlns:a16="http://schemas.microsoft.com/office/drawing/2014/main" id="{DBB75079-121A-4654-82E7-32ED6661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1562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GitHub App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Telegram bot</a:t>
            </a:r>
          </a:p>
        </p:txBody>
      </p:sp>
      <p:sp>
        <p:nvSpPr>
          <p:cNvPr id="11" name="arch-kicker-1">
            <a:extLst xmlns:a="http://schemas.openxmlformats.org/drawingml/2006/main">
              <a:ext uri="{FF2B5EF4-FFF2-40B4-BE49-F238E27FC236}">
                <a16:creationId xmlns:a16="http://schemas.microsoft.com/office/drawing/2014/main" id="{F96DAC0E-A0C7-471A-8339-A514D021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90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BED136CA-8CE7-49DF-AB5F-96CAEDF0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52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Продукт</a:t>
            </a:r>
          </a:p>
        </p:txBody>
      </p:sp>
      <p:sp>
        <p:nvSpPr>
          <p:cNvPr id="13" name="arch-box-1">
            <a:extLst xmlns:a="http://schemas.openxmlformats.org/drawingml/2006/main">
              <a:ext uri="{FF2B5EF4-FFF2-40B4-BE49-F238E27FC236}">
                <a16:creationId xmlns:a16="http://schemas.microsoft.com/office/drawing/2014/main" id="{32CD7D91-F62B-470C-9D7E-95A4A0EA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24150"/>
            <a:ext cx="19050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rch-body-1">
            <a:extLst xmlns:a="http://schemas.openxmlformats.org/drawingml/2006/main">
              <a:ext uri="{FF2B5EF4-FFF2-40B4-BE49-F238E27FC236}">
                <a16:creationId xmlns:a16="http://schemas.microsoft.com/office/drawing/2014/main" id="{F2C75DB4-FC9C-423A-BECF-B7083D4A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90850"/>
            <a:ext cx="1562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Web UI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Backend API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15" name="arch-kicker-2">
            <a:extLst xmlns:a="http://schemas.openxmlformats.org/drawingml/2006/main">
              <a:ext uri="{FF2B5EF4-FFF2-40B4-BE49-F238E27FC236}">
                <a16:creationId xmlns:a16="http://schemas.microsoft.com/office/drawing/2014/main" id="{643DF76A-C96B-4D66-B0E0-222AF88B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90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A4A60326-E709-4EAB-A043-9E081D08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52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Проверка</a:t>
            </a:r>
          </a:p>
        </p:txBody>
      </p:sp>
      <p:sp>
        <p:nvSpPr>
          <p:cNvPr id="17" name="arch-box-2">
            <a:extLst xmlns:a="http://schemas.openxmlformats.org/drawingml/2006/main">
              <a:ext uri="{FF2B5EF4-FFF2-40B4-BE49-F238E27FC236}">
                <a16:creationId xmlns:a16="http://schemas.microsoft.com/office/drawing/2014/main" id="{766C68B0-6CF1-460D-A820-15D57819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19050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7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ch-body-2">
            <a:extLst xmlns:a="http://schemas.openxmlformats.org/drawingml/2006/main">
              <a:ext uri="{FF2B5EF4-FFF2-40B4-BE49-F238E27FC236}">
                <a16:creationId xmlns:a16="http://schemas.microsoft.com/office/drawing/2014/main" id="{84DA0216-4770-47F6-BA37-206AE2FD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90850"/>
            <a:ext cx="1562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Queue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Sandbox runner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Evidence collector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Model pipeline</a:t>
            </a:r>
          </a:p>
        </p:txBody>
      </p:sp>
      <p:sp>
        <p:nvSpPr>
          <p:cNvPr id="19" name="arch-kicker-3">
            <a:extLst xmlns:a="http://schemas.openxmlformats.org/drawingml/2006/main">
              <a:ext uri="{FF2B5EF4-FFF2-40B4-BE49-F238E27FC236}">
                <a16:creationId xmlns:a16="http://schemas.microsoft.com/office/drawing/2014/main" id="{B081A91C-5368-4C4E-ADE3-08E38F03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10CE627E-C3F9-4753-B1C7-923D1DA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526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21" name="arch-box-3">
            <a:extLst xmlns:a="http://schemas.openxmlformats.org/drawingml/2006/main">
              <a:ext uri="{FF2B5EF4-FFF2-40B4-BE49-F238E27FC236}">
                <a16:creationId xmlns:a16="http://schemas.microsoft.com/office/drawing/2014/main" id="{9366D972-3CAD-4E0B-883F-024B6F05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rch-body-3">
            <a:extLst xmlns:a="http://schemas.openxmlformats.org/drawingml/2006/main">
              <a:ext uri="{FF2B5EF4-FFF2-40B4-BE49-F238E27FC236}">
                <a16:creationId xmlns:a16="http://schemas.microsoft.com/office/drawing/2014/main" id="{1D7A7EE2-BA8A-4840-8BE5-639257CF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9085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Human review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Student feedback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Excel export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Analytics + audit log</a:t>
            </a:r>
          </a:p>
        </p:txBody>
      </p:sp>
      <p:cxnSp>
        <p:nvCxnSpPr>
          <p:cNvPr id="48" name="arch-budget-rule"/>
          <p:cNvCxnSpPr/>
          <p:nvPr/>
        </p:nvCxnSpPr>
        <p:spPr>
          <a:xfrm xmlns:a="http://schemas.openxmlformats.org/drawingml/2006/main">
            <a:off x="533400" y="50292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4" name="arch-budget">
            <a:extLst xmlns:a="http://schemas.openxmlformats.org/drawingml/2006/main">
              <a:ext uri="{FF2B5EF4-FFF2-40B4-BE49-F238E27FC236}">
                <a16:creationId xmlns:a16="http://schemas.microsoft.com/office/drawing/2014/main" id="{87F9F096-8C52-4E02-B6AA-EEA78001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Yandex Cloud · секреты вне репозитория · одноразовый sandbox без сети · целевой бюджет до 3 000 ₽</a:t>
            </a:r>
          </a:p>
        </p:txBody>
      </p:sp>
      <p:sp>
        <p:nvSpPr>
          <p:cNvPr id="25" name="arch-state">
            <a:extLst xmlns:a="http://schemas.openxmlformats.org/drawingml/2006/main">
              <a:ext uri="{FF2B5EF4-FFF2-40B4-BE49-F238E27FC236}">
                <a16:creationId xmlns:a16="http://schemas.microsoft.com/office/drawing/2014/main" id="{EC309766-A24B-4B7B-8927-66AAF763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Конкретные сервисы и модель фиксируются после проверки доступов, квот и первого измеренного прогона.</a:t>
            </a:r>
          </a:p>
        </p:txBody>
      </p:sp>
    </p:spTree>
    <p:extLst>
      <p:ext uri="{BB962C8B-B14F-4D97-AF65-F5344CB8AC3E}">
        <p14:creationId xmlns:p14="http://schemas.microsoft.com/office/powerpoint/2010/main" val="8991689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-9">
            <a:extLst xmlns:a="http://schemas.openxmlformats.org/drawingml/2006/main">
              <a:ext uri="{FF2B5EF4-FFF2-40B4-BE49-F238E27FC236}">
                <a16:creationId xmlns:a16="http://schemas.microsoft.com/office/drawing/2014/main" id="{AAA5894C-BB48-4A4F-AFD6-24E90B6F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AVITO AI REVIEWER · ПРОМЕЖУТОЧНАЯ ВЕРСИЯ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F8FFDCEC-598F-4213-9ECF-FC776D64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0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Рабочая рубрика превращает условие в проверяемые критерии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5D798BBE-AF3B-414F-969C-8FDF7892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rubric-caveat">
            <a:extLst xmlns:a="http://schemas.openxmlformats.org/drawingml/2006/main">
              <a:ext uri="{FF2B5EF4-FFF2-40B4-BE49-F238E27FC236}">
                <a16:creationId xmlns:a16="http://schemas.microsoft.com/office/drawing/2014/main" id="{B11966CA-9991-4B7A-9C73-326AF961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Шкала команды, не официальная оценка Авито. Калибровка — на трёх предоставленных решениях.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33400" y="1885950"/>
          <a:ext xmlns:a="http://schemas.openxmlformats.org/drawingml/2006/main" cx="11125200" cy="32766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790700"/>
                <a:gridCol w="1143000"/>
                <a:gridCol w="4953000"/>
                <a:gridCol w="3238500"/>
              </a:tblGrid>
              <a:tr h="8191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Блок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Вес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Что проверяем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Доказательства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Task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3D8DFF"/>
                          </a:solidFill>
                        </a:rPr>
                        <a:t>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каркас, конфигурация, endpoints, shutdown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структура, код, smoke/test</a:t>
                      </a:r>
                    </a:p>
                  </a:txBody>
                  <a:tcPr marL="91440" marR="91440" marT="45720" marB="45720"/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Task 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3D8DFF"/>
                          </a:solidFill>
                        </a:rPr>
                        <a:t>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PostgreSQL, Goose, CRUD, статусы, SQL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миграции, handlers, queries, tests</a:t>
                      </a:r>
                    </a:p>
                  </a:txBody>
                  <a:tcPr marL="91440" marR="91440" marT="45720" marB="45720"/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Task 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3D8DFF"/>
                          </a:solidFill>
                        </a:rPr>
                        <a:t>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слои, интерфейсы, DI, SOLID/DRY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граф зависимостей, code review, tests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rubric-output">
            <a:extLst xmlns:a="http://schemas.openxmlformats.org/drawingml/2006/main">
              <a:ext uri="{FF2B5EF4-FFF2-40B4-BE49-F238E27FC236}">
                <a16:creationId xmlns:a16="http://schemas.microsoft.com/office/drawing/2014/main" id="{C285ED53-0B5D-4CE4-8E72-1D20A5E2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 финале сравним AI с ручным эталоном: порядок good &gt; medium &gt; weak, ошибка по критериям, полнота критических замечаний и доля needs_human.</a:t>
            </a:r>
          </a:p>
        </p:txBody>
      </p:sp>
    </p:spTree>
    <p:extLst>
      <p:ext uri="{BB962C8B-B14F-4D97-AF65-F5344CB8AC3E}">
        <p14:creationId xmlns:p14="http://schemas.microsoft.com/office/powerpoint/2010/main" val="1234496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10">
            <a:extLst xmlns:a="http://schemas.openxmlformats.org/drawingml/2006/main">
              <a:ext uri="{FF2B5EF4-FFF2-40B4-BE49-F238E27FC236}">
                <a16:creationId xmlns:a16="http://schemas.microsoft.com/office/drawing/2014/main" id="{615A0DA5-C2CD-4042-89B0-9F4AE1C1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AVITO AI REVIEWER · ПРОМЕЖУТОЧНАЯ ВЕРСИЯ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5FC02E7A-5114-4F52-99A4-E41D0E1D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До финала — реализация, измерение и доказательное демо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C65CEDCC-C118-438F-86E7-FE1568F5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cxnSp>
        <p:nvCxnSpPr>
          <p:cNvPr id="26" name="timeline-line"/>
          <p:cNvCxnSpPr/>
          <p:nvPr/>
        </p:nvCxnSpPr>
        <p:spPr>
          <a:xfrm xmlns:a="http://schemas.openxmlformats.org/drawingml/2006/main">
            <a:off x="742950" y="4667250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5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F36F752F-C94A-4F15-9B2B-C5D56E5B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4CBEA40B-960E-4F81-BCC8-E84D78C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10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B9B303F1-4C83-49B4-B9CD-B2468075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10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ilestone-bg-0">
            <a:extLst xmlns:a="http://schemas.openxmlformats.org/drawingml/2006/main">
              <a:ext uri="{FF2B5EF4-FFF2-40B4-BE49-F238E27FC236}">
                <a16:creationId xmlns:a16="http://schemas.microsoft.com/office/drawing/2014/main" id="{92394459-72BB-4CE5-A092-7E746FCF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32004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ilestone-title-0">
            <a:extLst xmlns:a="http://schemas.openxmlformats.org/drawingml/2006/main">
              <a:ext uri="{FF2B5EF4-FFF2-40B4-BE49-F238E27FC236}">
                <a16:creationId xmlns:a16="http://schemas.microsoft.com/office/drawing/2014/main" id="{B8957B8A-8138-4E92-889B-A03C3913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 сентября · готово</a:t>
            </a:r>
          </a:p>
        </p:txBody>
      </p:sp>
      <p:sp>
        <p:nvSpPr>
          <p:cNvPr id="10" name="milestone-body-0">
            <a:extLst xmlns:a="http://schemas.openxmlformats.org/drawingml/2006/main">
              <a:ext uri="{FF2B5EF4-FFF2-40B4-BE49-F238E27FC236}">
                <a16:creationId xmlns:a16="http://schemas.microsoft.com/office/drawing/2014/main" id="{5E54A797-7545-4A54-940A-F08B0607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2762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Scope, flow, архитектура, рубрика и промежуточные материалы.</a:t>
            </a:r>
          </a:p>
        </p:txBody>
      </p:sp>
      <p:sp>
        <p:nvSpPr>
          <p:cNvPr id="11" name="milestone-date-0">
            <a:extLst xmlns:a="http://schemas.openxmlformats.org/drawingml/2006/main">
              <a:ext uri="{FF2B5EF4-FFF2-40B4-BE49-F238E27FC236}">
                <a16:creationId xmlns:a16="http://schemas.microsoft.com/office/drawing/2014/main" id="{61931A29-0548-402D-850D-4927DDBA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Промежуточная сдача</a:t>
            </a:r>
          </a:p>
        </p:txBody>
      </p:sp>
      <p:sp>
        <p:nvSpPr>
          <p:cNvPr id="12" name="milestone-bg-1">
            <a:extLst xmlns:a="http://schemas.openxmlformats.org/drawingml/2006/main">
              <a:ext uri="{FF2B5EF4-FFF2-40B4-BE49-F238E27FC236}">
                <a16:creationId xmlns:a16="http://schemas.microsoft.com/office/drawing/2014/main" id="{BEDDC329-107E-4105-827C-7BB97CB0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95450"/>
            <a:ext cx="32004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ilestone-title-1">
            <a:extLst xmlns:a="http://schemas.openxmlformats.org/drawingml/2006/main">
              <a:ext uri="{FF2B5EF4-FFF2-40B4-BE49-F238E27FC236}">
                <a16:creationId xmlns:a16="http://schemas.microsoft.com/office/drawing/2014/main" id="{2780D879-2160-4ED8-B54A-F792260B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4–5 сентября · в работе</a:t>
            </a:r>
          </a:p>
        </p:txBody>
      </p:sp>
      <p:sp>
        <p:nvSpPr>
          <p:cNvPr id="14" name="milestone-body-1">
            <a:extLst xmlns:a="http://schemas.openxmlformats.org/drawingml/2006/main">
              <a:ext uri="{FF2B5EF4-FFF2-40B4-BE49-F238E27FC236}">
                <a16:creationId xmlns:a16="http://schemas.microsoft.com/office/drawing/2014/main" id="{9E682B14-1A7F-40C7-ADCA-20C45074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2762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Сайт, GitHub App, БД, sandbox, model pipeline, Telegram и Excel.</a:t>
            </a:r>
          </a:p>
        </p:txBody>
      </p:sp>
      <p:sp>
        <p:nvSpPr>
          <p:cNvPr id="15" name="milestone-date-1">
            <a:extLst xmlns:a="http://schemas.openxmlformats.org/drawingml/2006/main">
              <a:ext uri="{FF2B5EF4-FFF2-40B4-BE49-F238E27FC236}">
                <a16:creationId xmlns:a16="http://schemas.microsoft.com/office/drawing/2014/main" id="{9B2AD5EE-3BF8-4184-B0EA-DD845409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149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Рабочий E2E</a:t>
            </a:r>
          </a:p>
        </p:txBody>
      </p:sp>
      <p:sp>
        <p:nvSpPr>
          <p:cNvPr id="16" name="milestone-bg-2">
            <a:extLst xmlns:a="http://schemas.openxmlformats.org/drawingml/2006/main">
              <a:ext uri="{FF2B5EF4-FFF2-40B4-BE49-F238E27FC236}">
                <a16:creationId xmlns:a16="http://schemas.microsoft.com/office/drawing/2014/main" id="{5D041FB1-43C8-46B0-BAF8-D75B6B7C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95450"/>
            <a:ext cx="32004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ilestone-title-2">
            <a:extLst xmlns:a="http://schemas.openxmlformats.org/drawingml/2006/main">
              <a:ext uri="{FF2B5EF4-FFF2-40B4-BE49-F238E27FC236}">
                <a16:creationId xmlns:a16="http://schemas.microsoft.com/office/drawing/2014/main" id="{AA9B66A2-8AA6-40A7-9159-8E47D0BC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81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6–7 сентября · финал</a:t>
            </a:r>
          </a:p>
        </p:txBody>
      </p:sp>
      <p:sp>
        <p:nvSpPr>
          <p:cNvPr id="18" name="milestone-body-2">
            <a:extLst xmlns:a="http://schemas.openxmlformats.org/drawingml/2006/main">
              <a:ext uri="{FF2B5EF4-FFF2-40B4-BE49-F238E27FC236}">
                <a16:creationId xmlns:a16="http://schemas.microsoft.com/office/drawing/2014/main" id="{8D3D9452-9AA4-4C25-8E3D-547248EA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05100"/>
            <a:ext cx="2762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Три прогона, метрики, стоимость, публичное демо и финальные артефакты.</a:t>
            </a:r>
          </a:p>
        </p:txBody>
      </p:sp>
      <p:sp>
        <p:nvSpPr>
          <p:cNvPr id="19" name="milestone-date-2">
            <a:extLst xmlns:a="http://schemas.openxmlformats.org/drawingml/2006/main">
              <a:ext uri="{FF2B5EF4-FFF2-40B4-BE49-F238E27FC236}">
                <a16:creationId xmlns:a16="http://schemas.microsoft.com/office/drawing/2014/main" id="{4B1DBE9C-43C0-4903-8023-5E83E756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Финальная сдача</a:t>
            </a:r>
          </a:p>
        </p:txBody>
      </p:sp>
      <p:cxnSp>
        <p:nvCxnSpPr>
          <p:cNvPr id="42" name="team-rule"/>
          <p:cNvCxnSpPr/>
          <p:nvPr/>
        </p:nvCxnSpPr>
        <p:spPr>
          <a:xfrm xmlns:a="http://schemas.openxmlformats.org/drawingml/2006/main">
            <a:off x="533400" y="54673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team-andrey">
            <a:extLst xmlns:a="http://schemas.openxmlformats.org/drawingml/2006/main">
              <a:ext uri="{FF2B5EF4-FFF2-40B4-BE49-F238E27FC236}">
                <a16:creationId xmlns:a16="http://schemas.microsoft.com/office/drawing/2014/main" id="{515C573D-59AE-4F60-842B-CCA283C7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541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Андрей Яковлев · AI Product, основной разработчик</a:t>
            </a:r>
          </a:p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Постановка, архитектура, реализация, интеграции, развёртывание и материалы</a:t>
            </a:r>
          </a:p>
        </p:txBody>
      </p:sp>
      <p:sp>
        <p:nvSpPr>
          <p:cNvPr id="22" name="team-denis">
            <a:extLst xmlns:a="http://schemas.openxmlformats.org/drawingml/2006/main">
              <a:ext uri="{FF2B5EF4-FFF2-40B4-BE49-F238E27FC236}">
                <a16:creationId xmlns:a16="http://schemas.microsoft.com/office/drawing/2014/main" id="{F8AC4FB8-AB4D-4647-8615-515F6DDE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15000"/>
            <a:ext cx="541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Денис Ткачев · AI Engineer</a:t>
            </a:r>
          </a:p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Методика проверки, продуктовый flow, критерии качества и помощь в реализации</a:t>
            </a:r>
          </a:p>
        </p:txBody>
      </p:sp>
    </p:spTree>
    <p:extLst>
      <p:ext uri="{BB962C8B-B14F-4D97-AF65-F5344CB8AC3E}">
        <p14:creationId xmlns:p14="http://schemas.microsoft.com/office/powerpoint/2010/main" val="6659404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2026-09-03T16:34:46.5240000Z</dcterms:created>
  <dcterms:modified xsi:type="dcterms:W3CDTF">2026-09-03T16:34:46.5240000Z</dcterms:modified>
</coreProperties>
</file>